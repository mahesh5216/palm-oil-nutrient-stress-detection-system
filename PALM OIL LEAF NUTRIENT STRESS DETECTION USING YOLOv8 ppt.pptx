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6" r:id="rId9"/>
    <p:sldId id="262" r:id="rId10"/>
    <p:sldId id="268" r:id="rId11"/>
    <p:sldId id="264" r:id="rId12"/>
    <p:sldId id="263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E1E36-ADA1-4946-9462-6FD6D5C1FE3B}" v="3" dt="2026-05-12T10:41:35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4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42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07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27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322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14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25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161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315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325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987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40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897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378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93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929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419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9CE369-CC2C-40BF-9A3D-AED504F2521B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47FF87A-379A-491B-8658-3F5F6466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741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1F13A-0ADD-9F82-7CCF-EA713E221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380" y="628651"/>
            <a:ext cx="8372503" cy="3628718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PALM OIL LEAF NUTRIENT STRESS DETECTION USING YOLOv8</a:t>
            </a:r>
            <a:br>
              <a:rPr lang="en-US" sz="8800" b="1" dirty="0"/>
            </a:br>
            <a:endParaRPr lang="en-IN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71CBF-DE40-672B-1ECC-71BC3C624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2962" y="3505201"/>
            <a:ext cx="8825658" cy="1504336"/>
          </a:xfrm>
        </p:spPr>
        <p:txBody>
          <a:bodyPr>
            <a:noAutofit/>
          </a:bodyPr>
          <a:lstStyle/>
          <a:p>
            <a:r>
              <a:rPr lang="en-IN" sz="2000" b="1" dirty="0"/>
              <a:t>Presenter Info</a:t>
            </a:r>
            <a:r>
              <a:rPr lang="en-IN" sz="2000" dirty="0"/>
              <a:t>: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Name</a:t>
            </a:r>
            <a:r>
              <a:rPr lang="en-IN" dirty="0">
                <a:solidFill>
                  <a:schemeClr val="tx1"/>
                </a:solidFill>
              </a:rPr>
              <a:t>: Mahesh Singh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Role</a:t>
            </a:r>
            <a:r>
              <a:rPr lang="en-IN" dirty="0">
                <a:solidFill>
                  <a:schemeClr val="tx1"/>
                </a:solidFill>
              </a:rPr>
              <a:t>: data science internship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Frameworks</a:t>
            </a:r>
            <a:r>
              <a:rPr lang="en-IN" dirty="0">
                <a:solidFill>
                  <a:schemeClr val="tx1"/>
                </a:solidFill>
              </a:rPr>
              <a:t>: </a:t>
            </a:r>
            <a:r>
              <a:rPr lang="en-IN" dirty="0" err="1">
                <a:solidFill>
                  <a:schemeClr val="tx1"/>
                </a:solidFill>
              </a:rPr>
              <a:t>Ultralytics</a:t>
            </a:r>
            <a:r>
              <a:rPr lang="en-IN" dirty="0">
                <a:solidFill>
                  <a:schemeClr val="tx1"/>
                </a:solidFill>
              </a:rPr>
              <a:t> YOLOv8, </a:t>
            </a:r>
            <a:r>
              <a:rPr lang="en-IN" dirty="0" err="1">
                <a:solidFill>
                  <a:schemeClr val="tx1"/>
                </a:solidFill>
              </a:rPr>
              <a:t>PyTorch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dirty="0" err="1">
                <a:solidFill>
                  <a:schemeClr val="tx1"/>
                </a:solidFill>
              </a:rPr>
              <a:t>Gradio</a:t>
            </a:r>
            <a:r>
              <a:rPr lang="en-IN" dirty="0">
                <a:solidFill>
                  <a:schemeClr val="tx1"/>
                </a:solidFill>
              </a:rPr>
              <a:t>, Python</a:t>
            </a:r>
          </a:p>
        </p:txBody>
      </p:sp>
    </p:spTree>
    <p:extLst>
      <p:ext uri="{BB962C8B-B14F-4D97-AF65-F5344CB8AC3E}">
        <p14:creationId xmlns:p14="http://schemas.microsoft.com/office/powerpoint/2010/main" val="3099587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BF2D-3D3B-8662-48C6-8DC526267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Title &amp;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22D6-E83D-9DCD-FF57-57CB9BF8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711" y="3038168"/>
            <a:ext cx="9601196" cy="4306529"/>
          </a:xfrm>
        </p:spPr>
        <p:txBody>
          <a:bodyPr>
            <a:normAutofit/>
          </a:bodyPr>
          <a:lstStyle/>
          <a:p>
            <a:r>
              <a:rPr lang="en-IN" sz="2000" b="1" dirty="0"/>
              <a:t>Main Title</a:t>
            </a:r>
            <a:r>
              <a:rPr lang="en-IN" sz="2000" dirty="0"/>
              <a:t>: End-to-End AI Development: Palm Oil Leaf Nutrient Stress Detection Using Computer Vision</a:t>
            </a:r>
          </a:p>
          <a:p>
            <a:r>
              <a:rPr lang="en-IN" sz="2000" b="1" dirty="0"/>
              <a:t>Sub-title</a:t>
            </a:r>
            <a:r>
              <a:rPr lang="en-IN" sz="2000" dirty="0"/>
              <a:t>: A Fine-Tuned YOLOv8 Object Detection &amp; Multilingual </a:t>
            </a:r>
            <a:r>
              <a:rPr lang="en-IN" sz="2000" dirty="0" err="1"/>
              <a:t>Gradio</a:t>
            </a:r>
            <a:r>
              <a:rPr lang="en-IN" sz="2000" dirty="0"/>
              <a:t> System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535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6C117-E15D-703E-2DB3-A38077824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742950"/>
            <a:ext cx="8947522" cy="238370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Core Problem Statement</a:t>
            </a:r>
            <a:br>
              <a:rPr lang="en-US" b="1" dirty="0">
                <a:solidFill>
                  <a:srgbClr val="FF0000"/>
                </a:solidFill>
              </a:rPr>
            </a:br>
            <a:br>
              <a:rPr lang="en-IN" sz="6000" b="1" dirty="0">
                <a:solidFill>
                  <a:srgbClr val="FF0000"/>
                </a:solidFill>
              </a:rPr>
            </a:br>
            <a:endParaRPr lang="en-IN" sz="6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F43F8-5B74-2E54-E087-F7A57521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The Threat of Invisible Stress</a:t>
            </a:r>
            <a:r>
              <a:rPr lang="en-US" sz="2000" dirty="0"/>
              <a:t>: Nutrient deficiencies start as microscopic brown or yellow lesions on a single leaf blade.</a:t>
            </a:r>
          </a:p>
          <a:p>
            <a:r>
              <a:rPr lang="en-US" sz="2000" b="1" dirty="0"/>
              <a:t>Manual Inspection Bottlenecks</a:t>
            </a:r>
            <a:r>
              <a:rPr lang="en-US" sz="2000" dirty="0"/>
              <a:t>: Human visual scouting across thousands of palm plants is slow, highly subjective, and prone to oversight.</a:t>
            </a:r>
          </a:p>
          <a:p>
            <a:r>
              <a:rPr lang="en-US" sz="2000" b="1" dirty="0"/>
              <a:t>Economic Consequences</a:t>
            </a:r>
            <a:r>
              <a:rPr lang="en-US" sz="2000" dirty="0"/>
              <a:t>: Delayed identification allows disease vectors to spread, crashing crop production yields and triggering financial losses.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0602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8BCB-D7FF-867B-706F-2FED9B517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2032275"/>
          </a:xfrm>
        </p:spPr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Proposed AI Solution Blueprint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C74BD-8BA3-AF94-02D2-978DC57CD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3933" y="3596148"/>
            <a:ext cx="6815669" cy="192958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Proposed AI Solution Blueprint</a:t>
            </a:r>
          </a:p>
          <a:p>
            <a:r>
              <a:rPr lang="en-US" b="1" dirty="0"/>
              <a:t>Targeted Bounding Localization</a:t>
            </a:r>
            <a:r>
              <a:rPr lang="en-US" dirty="0"/>
              <a:t>: Building a computer vision model that finds precisely </a:t>
            </a:r>
            <a:r>
              <a:rPr lang="en-US" i="1" dirty="0"/>
              <a:t>WHERE</a:t>
            </a:r>
            <a:r>
              <a:rPr lang="en-US" dirty="0"/>
              <a:t> damage is on the leaf, rather than just classifying the whole image.</a:t>
            </a:r>
          </a:p>
          <a:p>
            <a:r>
              <a:rPr lang="en-US" b="1" dirty="0"/>
              <a:t>Multi-Class Mineral Diagnostics</a:t>
            </a:r>
            <a:r>
              <a:rPr lang="en-US" dirty="0"/>
              <a:t>: Simultaneously classifying 5 explicit plant health profiles: Healthy, boron, kalium (Potassium), mg (Magnesium), and nitrogen.</a:t>
            </a:r>
          </a:p>
          <a:p>
            <a:r>
              <a:rPr lang="en-US" b="1" dirty="0"/>
              <a:t>Accessible Field Deployment</a:t>
            </a:r>
            <a:r>
              <a:rPr lang="en-US" dirty="0"/>
              <a:t>: Packaging the weights into an active web interface optimized for multilingual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74837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61372-F68C-A38D-986A-2A0057F1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609600"/>
            <a:ext cx="8947522" cy="1243647"/>
          </a:xfrm>
        </p:spPr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831FD-7C9D-8D3D-6B9A-049B9DC17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900" b="1" dirty="0"/>
              <a:t>Total Images:</a:t>
            </a:r>
            <a:r>
              <a:rPr lang="en-IN" sz="2900" dirty="0"/>
              <a:t> ~14,354 palm oil leaf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900" b="1" dirty="0"/>
              <a:t>Classes:</a:t>
            </a:r>
            <a:r>
              <a:rPr lang="en-IN" sz="2900" dirty="0"/>
              <a:t> Healthy, Boron, Kalium, Magnesium (mg), and Nitrogen.</a:t>
            </a:r>
          </a:p>
          <a:p>
            <a:r>
              <a:rPr lang="en-IN" sz="2900" b="1" dirty="0"/>
              <a:t>YOLO Bounding Box Formats</a:t>
            </a:r>
            <a:r>
              <a:rPr lang="en-IN" sz="2900" dirty="0"/>
              <a:t>: Normalized coordinates mapping exact bounding </a:t>
            </a:r>
            <a:r>
              <a:rPr lang="en-IN" sz="2900" dirty="0" err="1"/>
              <a:t>rect</a:t>
            </a:r>
            <a:r>
              <a:rPr lang="en-IN" sz="2900" dirty="0"/>
              <a:t> parameters (\(x_{</a:t>
            </a:r>
            <a:r>
              <a:rPr lang="en-IN" sz="2900" dirty="0" err="1"/>
              <a:t>center</a:t>
            </a:r>
            <a:r>
              <a:rPr lang="en-IN" sz="2900" dirty="0"/>
              <a:t>}\), \(y_{</a:t>
            </a:r>
            <a:r>
              <a:rPr lang="en-IN" sz="2900" dirty="0" err="1"/>
              <a:t>center</a:t>
            </a:r>
            <a:r>
              <a:rPr lang="en-IN" sz="2900" dirty="0"/>
              <a:t>}\), \(width\), \(height\)).</a:t>
            </a:r>
          </a:p>
          <a:p>
            <a:r>
              <a:rPr lang="en-IN" sz="2900" b="1" dirty="0"/>
              <a:t>Preprocessing Pipeline</a:t>
            </a:r>
            <a:r>
              <a:rPr lang="en-IN" sz="2900" dirty="0"/>
              <a:t>:</a:t>
            </a:r>
          </a:p>
          <a:p>
            <a:pPr lvl="1"/>
            <a:r>
              <a:rPr lang="en-IN" sz="2900" dirty="0"/>
              <a:t>Uniform spatial input scaling to \(640 \times 640\) pixels.</a:t>
            </a:r>
          </a:p>
          <a:p>
            <a:pPr lvl="1"/>
            <a:r>
              <a:rPr lang="en-IN" sz="2900" dirty="0"/>
              <a:t>Pixel intensity channel normalization.</a:t>
            </a:r>
          </a:p>
          <a:p>
            <a:pPr lvl="1"/>
            <a:r>
              <a:rPr lang="en-IN" sz="2900" dirty="0" err="1"/>
              <a:t>Roboflow</a:t>
            </a:r>
            <a:r>
              <a:rPr lang="en-IN" sz="2900" dirty="0"/>
              <a:t> data augmentations (flips, rotations, micro-crops).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9283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D8E6F-E499-DB6A-7245-39C63487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MODEL ARCHITECTURE &amp; TRAINING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51BFC-FAE7-FE1F-BE3A-BE362B063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Initial Discovery Phase</a:t>
            </a:r>
            <a:r>
              <a:rPr lang="en-US" sz="2000" dirty="0"/>
              <a:t>: Trained a lightweight </a:t>
            </a:r>
            <a:r>
              <a:rPr lang="en-US" sz="2000" b="1" dirty="0"/>
              <a:t>YOLOv8 Nano (yolov8n)</a:t>
            </a:r>
            <a:r>
              <a:rPr lang="en-US" sz="2000" dirty="0"/>
              <a:t> network for 30 epochs.</a:t>
            </a:r>
          </a:p>
          <a:p>
            <a:r>
              <a:rPr lang="en-US" sz="2000" b="1" dirty="0"/>
              <a:t>The Blind Spot Error</a:t>
            </a:r>
            <a:r>
              <a:rPr lang="en-US" sz="2000" dirty="0"/>
              <a:t>: During inference validation, the nano model failed to isolate small brown lesions, misclassifying a highly deficient leaf as </a:t>
            </a:r>
            <a:r>
              <a:rPr lang="en-US" sz="2000" b="1" dirty="0"/>
              <a:t>"Healthy" with an 82% confidence rating</a:t>
            </a:r>
            <a:r>
              <a:rPr lang="en-US" sz="2000" dirty="0"/>
              <a:t> due to majority green background bias.</a:t>
            </a:r>
          </a:p>
          <a:p>
            <a:r>
              <a:rPr lang="en-US" sz="2000" b="1" dirty="0"/>
              <a:t>The Engineering Fix</a:t>
            </a:r>
            <a:r>
              <a:rPr lang="en-US" sz="2000" dirty="0"/>
              <a:t>: Upgraded the underlying architecture to </a:t>
            </a:r>
            <a:r>
              <a:rPr lang="en-US" sz="2000" b="1" dirty="0"/>
              <a:t>YOLOv8 Small (yolov8s)</a:t>
            </a:r>
            <a:r>
              <a:rPr lang="en-US" sz="2000" dirty="0"/>
              <a:t> and increased optimization parameters to </a:t>
            </a:r>
            <a:r>
              <a:rPr lang="en-US" sz="2000" b="1" dirty="0"/>
              <a:t>100 epochs</a:t>
            </a:r>
            <a:r>
              <a:rPr lang="en-US" sz="2000" dirty="0"/>
              <a:t> with strict training penalties (</a:t>
            </a:r>
            <a:r>
              <a:rPr lang="en-US" sz="2000" b="1" dirty="0"/>
              <a:t>box=8.0</a:t>
            </a:r>
            <a:r>
              <a:rPr lang="en-US" sz="2000" dirty="0"/>
              <a:t>, </a:t>
            </a:r>
            <a:r>
              <a:rPr lang="en-US" sz="2000" b="1" dirty="0" err="1"/>
              <a:t>cls</a:t>
            </a:r>
            <a:r>
              <a:rPr lang="en-US" sz="2000" b="1" dirty="0"/>
              <a:t>=1.5</a:t>
            </a:r>
            <a:r>
              <a:rPr lang="en-US" sz="2000" dirty="0"/>
              <a:t>) to force small feature retention.</a:t>
            </a:r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77041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E137E-8921-3251-4FA2-55200F4F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7"/>
            <a:ext cx="8947522" cy="2388805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C00000"/>
                </a:solidFill>
              </a:rPr>
              <a:t>Model Evaluation Results Matrix</a:t>
            </a:r>
            <a:br>
              <a:rPr lang="en-IN" sz="5400" b="1" dirty="0"/>
            </a:br>
            <a:endParaRPr lang="en-IN" sz="5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10FF4B-F0D3-7CFB-49B9-BC400E505D53}"/>
              </a:ext>
            </a:extLst>
          </p:cNvPr>
          <p:cNvSpPr txBox="1"/>
          <p:nvPr/>
        </p:nvSpPr>
        <p:spPr>
          <a:xfrm>
            <a:off x="2448233" y="2723534"/>
            <a:ext cx="938770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Overall Dataset Metrics After 100-Epoch’s </a:t>
            </a:r>
            <a:r>
              <a:rPr lang="en-IN" sz="2000" b="0" u="none" strike="noStrike" dirty="0">
                <a:effectLst/>
                <a:latin typeface="Google Sans"/>
              </a:rPr>
              <a:t>:</a:t>
            </a:r>
          </a:p>
          <a:p>
            <a:pPr marL="742950" lvl="1" indent="-28575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Precision (P)</a:t>
            </a:r>
            <a:r>
              <a:rPr lang="en-IN" sz="2000" b="0" u="none" strike="noStrike" dirty="0">
                <a:effectLst/>
                <a:latin typeface="Google Sans"/>
              </a:rPr>
              <a:t>: 0.975 (97.5% prediction validity rate)</a:t>
            </a:r>
          </a:p>
          <a:p>
            <a:pPr marL="742950" lvl="1" indent="-28575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Recall (R)</a:t>
            </a:r>
            <a:r>
              <a:rPr lang="en-IN" sz="2000" b="0" u="none" strike="noStrike" dirty="0">
                <a:effectLst/>
                <a:latin typeface="Google Sans"/>
              </a:rPr>
              <a:t>: 0.975 (97.5% total deficiency catch rate)</a:t>
            </a:r>
          </a:p>
          <a:p>
            <a:pPr marL="742950" lvl="1" indent="-28575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mAP@0.5</a:t>
            </a:r>
            <a:r>
              <a:rPr lang="en-IN" sz="2000" b="0" u="none" strike="noStrike" dirty="0">
                <a:effectLst/>
                <a:latin typeface="Google Sans"/>
              </a:rPr>
              <a:t>: 0.975 (Excellent baseline precision)</a:t>
            </a:r>
          </a:p>
          <a:p>
            <a:pPr marL="742950" lvl="1" indent="-285750"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1" u="none" strike="noStrike" dirty="0">
                <a:effectLst/>
                <a:latin typeface="Google Sans"/>
              </a:rPr>
              <a:t>mAP@0.5:0.95</a:t>
            </a:r>
            <a:r>
              <a:rPr lang="en-IN" sz="2000" b="0" u="none" strike="noStrike" dirty="0">
                <a:effectLst/>
                <a:latin typeface="Google Sans"/>
              </a:rPr>
              <a:t>: 0.942 (Highly robust model convergence proof)</a:t>
            </a:r>
          </a:p>
        </p:txBody>
      </p:sp>
    </p:spTree>
    <p:extLst>
      <p:ext uri="{BB962C8B-B14F-4D97-AF65-F5344CB8AC3E}">
        <p14:creationId xmlns:p14="http://schemas.microsoft.com/office/powerpoint/2010/main" val="3396556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E2DE-EB6D-2908-206C-50D3E13E3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Production-Ready Dashboard Features</a:t>
            </a:r>
            <a:endParaRPr lang="en-IN" sz="40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D2B3-9EC0-0C2F-945D-15D7AE3CE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105" y="2575591"/>
            <a:ext cx="8946541" cy="5019394"/>
          </a:xfrm>
        </p:spPr>
        <p:txBody>
          <a:bodyPr>
            <a:normAutofit/>
          </a:bodyPr>
          <a:lstStyle/>
          <a:p>
            <a:r>
              <a:rPr lang="en-IN" b="1" dirty="0" err="1"/>
              <a:t>Gradio</a:t>
            </a:r>
            <a:r>
              <a:rPr lang="en-IN" b="1" dirty="0"/>
              <a:t> Core Features</a:t>
            </a:r>
            <a:r>
              <a:rPr lang="en-IN" dirty="0"/>
              <a:t>: Fully interactive dashboard with an organic, green agriculture farming backdrop theme.</a:t>
            </a:r>
          </a:p>
          <a:p>
            <a:r>
              <a:rPr lang="en-IN" b="1" dirty="0"/>
              <a:t>Dual Stream Inputs</a:t>
            </a:r>
            <a:r>
              <a:rPr lang="en-IN" dirty="0"/>
              <a:t>: Supports standard </a:t>
            </a:r>
            <a:r>
              <a:rPr lang="en-IN" b="1" dirty="0"/>
              <a:t>File Upload</a:t>
            </a:r>
            <a:r>
              <a:rPr lang="en-IN" dirty="0"/>
              <a:t> drag-and-drop or real-time smartphone/laptop </a:t>
            </a:r>
            <a:r>
              <a:rPr lang="en-IN" b="1" dirty="0"/>
              <a:t>Live Camera Snapshots</a:t>
            </a:r>
            <a:r>
              <a:rPr lang="en-IN" dirty="0"/>
              <a:t>.</a:t>
            </a:r>
          </a:p>
          <a:p>
            <a:r>
              <a:rPr lang="en-IN" b="1" dirty="0"/>
              <a:t>Multi-Language Localization Panel</a:t>
            </a:r>
            <a:r>
              <a:rPr lang="en-IN" dirty="0"/>
              <a:t>: Seamless, zero-latency interface switching across </a:t>
            </a:r>
            <a:r>
              <a:rPr lang="en-IN" b="1" dirty="0"/>
              <a:t>English, Telugu (</a:t>
            </a:r>
            <a:r>
              <a:rPr lang="te-IN" b="1" dirty="0"/>
              <a:t>తెలుగు), </a:t>
            </a:r>
            <a:r>
              <a:rPr lang="en-IN" b="1" dirty="0"/>
              <a:t>and Hindi (</a:t>
            </a:r>
            <a:r>
              <a:rPr lang="hi-IN" b="1" dirty="0"/>
              <a:t>हिन्दी)</a:t>
            </a:r>
            <a:r>
              <a:rPr lang="hi-IN" dirty="0"/>
              <a:t> </a:t>
            </a:r>
            <a:r>
              <a:rPr lang="en-IN" dirty="0"/>
              <a:t>to make the system highly accessible for local field workers.</a:t>
            </a:r>
          </a:p>
          <a:p>
            <a:pPr marL="0" indent="0">
              <a:buNone/>
            </a:pPr>
            <a:br>
              <a:rPr lang="en-IN" sz="3600" dirty="0"/>
            </a:br>
            <a:endParaRPr lang="en-IN" sz="36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0884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6A6D-EE8C-B656-BE4F-239E3B85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944" y="777182"/>
            <a:ext cx="8947522" cy="1400530"/>
          </a:xfrm>
        </p:spPr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Real-Time Performance Showcase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0FB6D-D55B-5C18-47B6-DEAB89A7A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2587924"/>
            <a:ext cx="8946541" cy="4833657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Successful Case Result :</a:t>
            </a:r>
            <a:r>
              <a:rPr lang="en-US" sz="2000" dirty="0">
                <a:solidFill>
                  <a:schemeClr val="tx1"/>
                </a:solidFill>
              </a:rPr>
              <a:t>The model successfully processed the problematic sample leaf it previously failed on.</a:t>
            </a:r>
          </a:p>
          <a:p>
            <a:r>
              <a:rPr lang="en-US" sz="2000" dirty="0">
                <a:solidFill>
                  <a:schemeClr val="tx1"/>
                </a:solidFill>
              </a:rPr>
              <a:t>Accurately generated a tight, high-contrast cyan bounding box directly mapping a </a:t>
            </a:r>
            <a:r>
              <a:rPr lang="en-US" sz="2000" b="1" dirty="0">
                <a:solidFill>
                  <a:schemeClr val="tx1"/>
                </a:solidFill>
              </a:rPr>
              <a:t>Boron Deficiency with a 96% (boron 0.96) confidence score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</a:p>
          <a:p>
            <a:r>
              <a:rPr lang="en-US" sz="2000" dirty="0">
                <a:solidFill>
                  <a:schemeClr val="tx1"/>
                </a:solidFill>
              </a:rPr>
              <a:t>Dynamically triggered targeted agronomic treatment suggester scripts in the user's selected regional language.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001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329236-A308-99C9-4FB5-CF8825E9C456}"/>
              </a:ext>
            </a:extLst>
          </p:cNvPr>
          <p:cNvSpPr txBox="1"/>
          <p:nvPr/>
        </p:nvSpPr>
        <p:spPr>
          <a:xfrm>
            <a:off x="786580" y="1033003"/>
            <a:ext cx="1084498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Majority Class Bias (Over-fitting to Healthy)</a:t>
            </a:r>
            <a:r>
              <a:rPr lang="en-US" b="0" u="none" strike="noStrike" dirty="0">
                <a:effectLst/>
                <a:latin typeface="Google Sans"/>
              </a:rPr>
              <a:t>: Initial iterations suffered from background pixel dominance, where a large green leaf area caused small brown spots to be ignored and misclassified as </a:t>
            </a:r>
            <a:r>
              <a:rPr lang="en-US" b="1" u="none" strike="noStrike" dirty="0">
                <a:effectLst/>
                <a:latin typeface="Google Sans"/>
              </a:rPr>
              <a:t>"Healthy" with an 82% confidence rating</a:t>
            </a:r>
            <a:r>
              <a:rPr lang="en-US" b="0" u="none" strike="noStrike" dirty="0">
                <a:effectLst/>
                <a:latin typeface="Google Sans"/>
              </a:rPr>
              <a:t>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Micro-Lesion Feature Extraction</a:t>
            </a:r>
            <a:r>
              <a:rPr lang="en-US" b="0" u="none" strike="noStrike" dirty="0">
                <a:effectLst/>
                <a:latin typeface="Google Sans"/>
              </a:rPr>
              <a:t>: Early-stage deficiency features are incredibly small and share structural edge profiles with normal leaf variations, dirt, and minor shadows, making automated identification difficult.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Cloud Browser Rendering Security (Sandbox Blocks)</a:t>
            </a:r>
            <a:r>
              <a:rPr lang="en-US" b="0" u="none" strike="noStrike" dirty="0">
                <a:effectLst/>
                <a:latin typeface="Google Sans"/>
              </a:rPr>
              <a:t>: Faced severe browser cross-origin limits when using Google </a:t>
            </a:r>
            <a:r>
              <a:rPr lang="en-US" b="0" u="none" strike="noStrike" dirty="0" err="1">
                <a:effectLst/>
                <a:latin typeface="Google Sans"/>
              </a:rPr>
              <a:t>Colab's</a:t>
            </a:r>
            <a:r>
              <a:rPr lang="en-US" b="0" u="none" strike="noStrike" dirty="0">
                <a:effectLst/>
                <a:latin typeface="Google Sans"/>
              </a:rPr>
              <a:t> network layers to return raw OpenCV byte arrays, which initially caused blank image boxes inside the user interface.</a:t>
            </a:r>
          </a:p>
          <a:p>
            <a:pPr>
              <a:spcBef>
                <a:spcPts val="1800"/>
              </a:spcBef>
              <a:spcAft>
                <a:spcPts val="900"/>
              </a:spcAft>
              <a:buNone/>
            </a:pPr>
            <a:r>
              <a:rPr lang="en-US" b="1" u="none" strike="noStrike" dirty="0">
                <a:effectLst/>
                <a:latin typeface="Google Sans"/>
              </a:rPr>
              <a:t>🔧 Engineering Solutions Applied: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effectLst/>
                <a:latin typeface="Google Sans"/>
              </a:rPr>
              <a:t>Upgraded to a deeper </a:t>
            </a:r>
            <a:r>
              <a:rPr lang="en-US" b="1" u="none" strike="noStrike" dirty="0">
                <a:effectLst/>
                <a:latin typeface="Google Sans"/>
              </a:rPr>
              <a:t>YOLOv8 Small (</a:t>
            </a:r>
            <a:r>
              <a:rPr lang="en-US" b="1" u="none" strike="noStrike" dirty="0">
                <a:effectLst/>
                <a:latin typeface="Courier New" panose="02070309020205020404" pitchFamily="49" charset="0"/>
              </a:rPr>
              <a:t>yolov8s</a:t>
            </a:r>
            <a:r>
              <a:rPr lang="en-US" b="1" u="none" strike="noStrike" dirty="0">
                <a:effectLst/>
                <a:latin typeface="Google Sans"/>
              </a:rPr>
              <a:t>)</a:t>
            </a:r>
            <a:r>
              <a:rPr lang="en-US" b="0" u="none" strike="noStrike" dirty="0">
                <a:effectLst/>
                <a:latin typeface="Google Sans"/>
              </a:rPr>
              <a:t> architecture.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effectLst/>
                <a:latin typeface="Google Sans"/>
              </a:rPr>
              <a:t>Extended training duration to </a:t>
            </a:r>
            <a:r>
              <a:rPr lang="en-US" b="1" u="none" strike="noStrike" dirty="0">
                <a:effectLst/>
                <a:latin typeface="Google Sans"/>
              </a:rPr>
              <a:t>100 epochs</a:t>
            </a:r>
            <a:r>
              <a:rPr lang="en-US" b="0" u="none" strike="noStrike" dirty="0">
                <a:effectLst/>
                <a:latin typeface="Google Sans"/>
              </a:rPr>
              <a:t> with strict training penalties (</a:t>
            </a:r>
            <a:r>
              <a:rPr lang="en-US" b="1" u="none" strike="noStrike" dirty="0">
                <a:effectLst/>
                <a:latin typeface="Courier New" panose="02070309020205020404" pitchFamily="49" charset="0"/>
              </a:rPr>
              <a:t>box=8.0</a:t>
            </a:r>
            <a:r>
              <a:rPr lang="en-US" b="0" u="none" strike="noStrike" dirty="0">
                <a:effectLst/>
                <a:latin typeface="Google Sans"/>
              </a:rPr>
              <a:t>, </a:t>
            </a:r>
            <a:r>
              <a:rPr lang="en-US" b="1" u="none" strike="noStrike" dirty="0" err="1">
                <a:effectLst/>
                <a:latin typeface="Courier New" panose="02070309020205020404" pitchFamily="49" charset="0"/>
              </a:rPr>
              <a:t>cls</a:t>
            </a:r>
            <a:r>
              <a:rPr lang="en-US" b="1" u="none" strike="noStrike" dirty="0">
                <a:effectLst/>
                <a:latin typeface="Courier New" panose="02070309020205020404" pitchFamily="49" charset="0"/>
              </a:rPr>
              <a:t>=1.5</a:t>
            </a:r>
            <a:r>
              <a:rPr lang="en-US" b="0" u="none" strike="noStrike" dirty="0">
                <a:effectLst/>
                <a:latin typeface="Google Sans"/>
              </a:rPr>
              <a:t>) to eliminate majority class bias.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effectLst/>
                <a:latin typeface="Google Sans"/>
              </a:rPr>
              <a:t>Implemented an inline </a:t>
            </a:r>
            <a:r>
              <a:rPr lang="en-US" b="1" u="none" strike="noStrike" dirty="0">
                <a:effectLst/>
                <a:latin typeface="Google Sans"/>
              </a:rPr>
              <a:t>HTML base64 data conversion pipeline</a:t>
            </a:r>
            <a:r>
              <a:rPr lang="en-US" b="0" u="none" strike="noStrike" dirty="0">
                <a:effectLst/>
                <a:latin typeface="Google Sans"/>
              </a:rPr>
              <a:t> inside </a:t>
            </a:r>
            <a:r>
              <a:rPr lang="en-US" b="0" u="none" strike="noStrike" dirty="0" err="1">
                <a:effectLst/>
                <a:latin typeface="Google Sans"/>
              </a:rPr>
              <a:t>Gradio</a:t>
            </a:r>
            <a:r>
              <a:rPr lang="en-US" b="0" u="none" strike="noStrike" dirty="0">
                <a:effectLst/>
                <a:latin typeface="Google Sans"/>
              </a:rPr>
              <a:t> to bypass cloud network proxy blockades entirely.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1F115-3DDF-E499-F1E3-09C3A20AF2DB}"/>
              </a:ext>
            </a:extLst>
          </p:cNvPr>
          <p:cNvSpPr txBox="1"/>
          <p:nvPr/>
        </p:nvSpPr>
        <p:spPr>
          <a:xfrm>
            <a:off x="4414684" y="572723"/>
            <a:ext cx="10520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700"/>
              </a:spcBef>
              <a:spcAft>
                <a:spcPts val="900"/>
              </a:spcAft>
              <a:buNone/>
            </a:pPr>
            <a:r>
              <a:rPr lang="en-IN" b="1" u="none" strike="noStrike" dirty="0">
                <a:solidFill>
                  <a:srgbClr val="FF0000"/>
                </a:solidFill>
                <a:effectLst/>
                <a:latin typeface="Google Sans"/>
              </a:rPr>
              <a:t>Technical Challenges Faced</a:t>
            </a:r>
          </a:p>
        </p:txBody>
      </p:sp>
    </p:spTree>
    <p:extLst>
      <p:ext uri="{BB962C8B-B14F-4D97-AF65-F5344CB8AC3E}">
        <p14:creationId xmlns:p14="http://schemas.microsoft.com/office/powerpoint/2010/main" val="91159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6C7B-E76D-BA51-E31A-15E272AF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609600"/>
            <a:ext cx="8947522" cy="1243647"/>
          </a:xfrm>
        </p:spPr>
        <p:txBody>
          <a:bodyPr/>
          <a:lstStyle/>
          <a:p>
            <a:r>
              <a:rPr lang="en-IN" sz="4400" b="1" dirty="0">
                <a:solidFill>
                  <a:srgbClr val="FF0000"/>
                </a:solidFill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71057-89DF-B8A6-BFDB-BBF827A78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441" y="3042951"/>
            <a:ext cx="8946541" cy="439515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Edge Device &amp; Offline Optimization</a:t>
            </a:r>
            <a:r>
              <a:rPr lang="en-IN" sz="2000" dirty="0"/>
              <a:t>: Compress the model weights using INT8 quantization layers to allow offline field deployment via mobile android </a:t>
            </a:r>
            <a:r>
              <a:rPr lang="en-IN" sz="2000" dirty="0" err="1"/>
              <a:t>apps.</a:t>
            </a:r>
            <a:r>
              <a:rPr lang="en-IN" sz="2000" b="1" dirty="0" err="1"/>
              <a:t>Temporal</a:t>
            </a:r>
            <a:r>
              <a:rPr lang="en-IN" sz="2000" b="1" dirty="0"/>
              <a:t> Spread Tracking</a:t>
            </a:r>
            <a:r>
              <a:rPr lang="en-IN" sz="2000" dirty="0"/>
              <a:t>: Integrate video object tracking capabilities into the codebase to empower drone systems to map entire plantations </a:t>
            </a:r>
            <a:r>
              <a:rPr lang="en-IN" sz="2000" dirty="0" err="1"/>
              <a:t>continuously.</a:t>
            </a:r>
            <a:r>
              <a:rPr lang="en-IN" sz="2000" b="1" dirty="0" err="1"/>
              <a:t>IoT</a:t>
            </a:r>
            <a:r>
              <a:rPr lang="en-IN" sz="2000" b="1" dirty="0"/>
              <a:t> Sensor Integration</a:t>
            </a:r>
            <a:r>
              <a:rPr lang="en-IN" sz="2000" dirty="0"/>
              <a:t>: Combine automated leaf computer vision checks with real-time soil nitrogen-potassium-phosphorus (NPK) moisture telemetry data for hyper-targeted agronomic fertilizer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94873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6431-906D-6ABA-1C68-B74A6C3D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642938"/>
            <a:ext cx="8947522" cy="121031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Project Conclusion &amp; Impact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26536-CB9A-69BC-2387-B670D117D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16" y="2797145"/>
            <a:ext cx="8946541" cy="470471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End-to-End Success</a:t>
            </a:r>
            <a:r>
              <a:rPr lang="en-US" sz="2000" dirty="0">
                <a:solidFill>
                  <a:schemeClr val="tx1"/>
                </a:solidFill>
              </a:rPr>
              <a:t>: Successfully created an AI architecture pipeline tracing all steps from dataset optimization to web application </a:t>
            </a:r>
            <a:r>
              <a:rPr lang="en-US" sz="2000" dirty="0" err="1">
                <a:solidFill>
                  <a:schemeClr val="tx1"/>
                </a:solidFill>
              </a:rPr>
              <a:t>deployment.</a:t>
            </a:r>
            <a:r>
              <a:rPr lang="en-US" sz="2000" b="1" dirty="0" err="1">
                <a:solidFill>
                  <a:schemeClr val="tx1"/>
                </a:solidFill>
              </a:rPr>
              <a:t>Key</a:t>
            </a:r>
            <a:r>
              <a:rPr lang="en-US" sz="2000" b="1" dirty="0">
                <a:solidFill>
                  <a:schemeClr val="tx1"/>
                </a:solidFill>
              </a:rPr>
              <a:t> Engineering Learning</a:t>
            </a:r>
            <a:r>
              <a:rPr lang="en-US" sz="2000" dirty="0">
                <a:solidFill>
                  <a:schemeClr val="tx1"/>
                </a:solidFill>
              </a:rPr>
              <a:t>: Proved that upgrading architecture parameters (YOLOv8s + 100 Epochs) eliminates model bias and ensures detection accuracy for fine, small agricultural </a:t>
            </a:r>
            <a:r>
              <a:rPr lang="en-US" sz="2000" dirty="0" err="1">
                <a:solidFill>
                  <a:schemeClr val="tx1"/>
                </a:solidFill>
              </a:rPr>
              <a:t>patterns.</a:t>
            </a:r>
            <a:r>
              <a:rPr lang="en-US" sz="2000" b="1" dirty="0" err="1">
                <a:solidFill>
                  <a:schemeClr val="tx1"/>
                </a:solidFill>
              </a:rPr>
              <a:t>Future</a:t>
            </a:r>
            <a:r>
              <a:rPr lang="en-US" sz="2000" b="1" dirty="0">
                <a:solidFill>
                  <a:schemeClr val="tx1"/>
                </a:solidFill>
              </a:rPr>
              <a:t> Deployment Steps</a:t>
            </a:r>
            <a:r>
              <a:rPr lang="en-US" sz="2000" dirty="0">
                <a:solidFill>
                  <a:schemeClr val="tx1"/>
                </a:solidFill>
              </a:rPr>
              <a:t>: Compress the model weights using INT8 quantization layers to allow offline field deployment via mobile android apps.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043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F3FEA6-E0F9-A261-C87F-C608600C7635}"/>
              </a:ext>
            </a:extLst>
          </p:cNvPr>
          <p:cNvSpPr txBox="1"/>
          <p:nvPr/>
        </p:nvSpPr>
        <p:spPr>
          <a:xfrm>
            <a:off x="1170039" y="2645401"/>
            <a:ext cx="1003873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Targeted Treatment Action</a:t>
            </a:r>
            <a:r>
              <a:rPr lang="en-US" b="0" u="none" strike="noStrike" dirty="0">
                <a:effectLst/>
                <a:latin typeface="Google Sans"/>
              </a:rPr>
              <a:t>: Instead of applying fertilizers blindly across an entire plantation, the system allows for site-specific treatment [1], which saves money and prevents chemical runoff [1].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Early Intervention Window</a:t>
            </a:r>
            <a:r>
              <a:rPr lang="en-US" b="0" u="none" strike="noStrike" dirty="0">
                <a:effectLst/>
                <a:latin typeface="Google Sans"/>
              </a:rPr>
              <a:t>: Catching a deficiency when it is a small spot at a </a:t>
            </a:r>
            <a:r>
              <a:rPr lang="en-US" b="1" u="none" strike="noStrike" dirty="0">
                <a:effectLst/>
                <a:latin typeface="Google Sans"/>
              </a:rPr>
              <a:t>96% confidence score</a:t>
            </a:r>
            <a:r>
              <a:rPr lang="en-US" b="0" u="none" strike="noStrike" dirty="0">
                <a:effectLst/>
                <a:latin typeface="Google Sans"/>
              </a:rPr>
              <a:t> gives farmers a 2-week head start to save the crop before the leaves wither.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none" strike="noStrike" dirty="0">
                <a:effectLst/>
                <a:latin typeface="Google Sans"/>
              </a:rPr>
              <a:t>Operational Scalability</a:t>
            </a:r>
            <a:r>
              <a:rPr lang="en-US" b="0" u="none" strike="noStrike" dirty="0">
                <a:effectLst/>
                <a:latin typeface="Google Sans"/>
              </a:rPr>
              <a:t>: Moving from manual leaf scouting to automated image checks speeds up field monitoring by roughly </a:t>
            </a:r>
            <a:r>
              <a:rPr lang="en-US" b="1" u="none" strike="noStrike" dirty="0">
                <a:effectLst/>
                <a:latin typeface="Google Sans"/>
              </a:rPr>
              <a:t>15x</a:t>
            </a:r>
            <a:r>
              <a:rPr lang="en-US" b="0" u="none" strike="noStrike" dirty="0">
                <a:effectLst/>
                <a:latin typeface="Google Sans"/>
              </a:rPr>
              <a:t>, making it easy to scale up for massive industrial farms.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7C329D-FD12-E936-8E1D-49AECFBF9544}"/>
              </a:ext>
            </a:extLst>
          </p:cNvPr>
          <p:cNvSpPr txBox="1"/>
          <p:nvPr/>
        </p:nvSpPr>
        <p:spPr>
          <a:xfrm>
            <a:off x="3038168" y="901158"/>
            <a:ext cx="61156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700"/>
              </a:spcBef>
              <a:spcAft>
                <a:spcPts val="900"/>
              </a:spcAft>
              <a:buNone/>
            </a:pPr>
            <a:r>
              <a:rPr lang="en-US" b="1" u="none" strike="noStrike" dirty="0">
                <a:solidFill>
                  <a:srgbClr val="FF0000"/>
                </a:solidFill>
                <a:effectLst/>
                <a:latin typeface="Google Sans"/>
              </a:rPr>
              <a:t>Agronomic Impact &amp; Field Application (The Value </a:t>
            </a:r>
            <a:r>
              <a:rPr lang="en-US" sz="2000" b="1" u="none" strike="noStrike" dirty="0">
                <a:solidFill>
                  <a:srgbClr val="FF0000"/>
                </a:solidFill>
                <a:effectLst/>
                <a:latin typeface="Google Sans"/>
              </a:rPr>
              <a:t>Metric</a:t>
            </a:r>
            <a:r>
              <a:rPr lang="en-US" b="1" u="none" strike="noStrike" dirty="0">
                <a:solidFill>
                  <a:srgbClr val="FF0000"/>
                </a:solidFill>
                <a:effectLst/>
                <a:latin typeface="Google San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9057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62F463-CDDC-EB8D-B4C9-A84442D1AD6D}"/>
              </a:ext>
            </a:extLst>
          </p:cNvPr>
          <p:cNvSpPr txBox="1"/>
          <p:nvPr/>
        </p:nvSpPr>
        <p:spPr>
          <a:xfrm>
            <a:off x="560439" y="1788226"/>
            <a:ext cx="111104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[</a:t>
            </a:r>
            <a:r>
              <a:rPr lang="en-IN" sz="2000" dirty="0"/>
              <a:t>Input Source]      --&gt;       [Processing Core]      --&gt;      [Output View]  📷 Smartphone Camera           🔥 Cloud NVIDIA T4 GPU          🖼️ High-Contrast Bounding Box  📤 Drag-and-Drop Image        🧠 Upgraded YOLOv8s Model      📋 Multilingual Treatment Logs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AC8AE-8E2E-59D2-6E30-1628B9790D33}"/>
              </a:ext>
            </a:extLst>
          </p:cNvPr>
          <p:cNvSpPr txBox="1"/>
          <p:nvPr/>
        </p:nvSpPr>
        <p:spPr>
          <a:xfrm>
            <a:off x="2399071" y="877218"/>
            <a:ext cx="8298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700"/>
              </a:spcBef>
              <a:spcAft>
                <a:spcPts val="900"/>
              </a:spcAft>
              <a:buNone/>
            </a:pPr>
            <a:r>
              <a:rPr lang="en-US" sz="2400" b="1" u="none" strike="noStrike" dirty="0">
                <a:solidFill>
                  <a:srgbClr val="FF0000"/>
                </a:solidFill>
                <a:effectLst/>
                <a:latin typeface="Google Sans"/>
              </a:rPr>
              <a:t>System Architecture Pipeline (The Technical Flowchart)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10E9A-1FC1-D67B-93B0-AA4223EA321B}"/>
              </a:ext>
            </a:extLst>
          </p:cNvPr>
          <p:cNvSpPr txBox="1"/>
          <p:nvPr/>
        </p:nvSpPr>
        <p:spPr>
          <a:xfrm>
            <a:off x="870155" y="3772647"/>
            <a:ext cx="1045169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none" strike="noStrike" dirty="0">
                <a:effectLst/>
                <a:latin typeface="Google Sans"/>
              </a:rPr>
              <a:t>Input Layer</a:t>
            </a:r>
            <a:r>
              <a:rPr lang="en-IN" sz="2000" b="0" u="none" strike="noStrike" dirty="0">
                <a:effectLst/>
                <a:latin typeface="Google Sans"/>
              </a:rPr>
              <a:t>: Accepts a high-resolution smartphone image matrix or live webcam </a:t>
            </a:r>
            <a:r>
              <a:rPr lang="en-IN" sz="2000" b="0" u="none" strike="noStrike" dirty="0" err="1">
                <a:effectLst/>
                <a:latin typeface="Google Sans"/>
              </a:rPr>
              <a:t>snapshot.</a:t>
            </a:r>
            <a:r>
              <a:rPr lang="en-IN" sz="2000" b="1" u="none" strike="noStrike" dirty="0" err="1">
                <a:effectLst/>
                <a:latin typeface="Google Sans"/>
              </a:rPr>
              <a:t>Inference</a:t>
            </a:r>
            <a:r>
              <a:rPr lang="en-IN" sz="2000" b="1" u="none" strike="noStrike" dirty="0">
                <a:effectLst/>
                <a:latin typeface="Google Sans"/>
              </a:rPr>
              <a:t> Engine</a:t>
            </a:r>
            <a:r>
              <a:rPr lang="en-IN" sz="2000" b="0" u="none" strike="noStrike" dirty="0">
                <a:effectLst/>
                <a:latin typeface="Google Sans"/>
              </a:rPr>
              <a:t>: Runs your fine-tuned </a:t>
            </a:r>
            <a:r>
              <a:rPr lang="en-IN" sz="2000" b="1" u="none" strike="noStrike" dirty="0">
                <a:effectLst/>
                <a:latin typeface="Google Sans"/>
              </a:rPr>
              <a:t>YOLOv8 Small</a:t>
            </a:r>
            <a:r>
              <a:rPr lang="en-IN" sz="2000" b="0" u="none" strike="noStrike" dirty="0">
                <a:effectLst/>
                <a:latin typeface="Google Sans"/>
              </a:rPr>
              <a:t> model weights file (</a:t>
            </a:r>
            <a:r>
              <a:rPr lang="en-IN" sz="2000" b="0" u="none" strike="noStrike" dirty="0">
                <a:effectLst/>
                <a:latin typeface="Courier New" panose="02070309020205020404" pitchFamily="49" charset="0"/>
              </a:rPr>
              <a:t>best.pt</a:t>
            </a:r>
            <a:r>
              <a:rPr lang="en-IN" sz="2000" b="0" u="none" strike="noStrike" dirty="0">
                <a:effectLst/>
                <a:latin typeface="Google Sans"/>
              </a:rPr>
              <a:t>) on a GPU to extract spatial </a:t>
            </a:r>
            <a:r>
              <a:rPr lang="en-IN" sz="2000" b="0" u="none" strike="noStrike" dirty="0" err="1">
                <a:effectLst/>
                <a:latin typeface="Google Sans"/>
              </a:rPr>
              <a:t>features.</a:t>
            </a:r>
            <a:r>
              <a:rPr lang="en-IN" sz="2000" b="1" u="none" strike="noStrike" dirty="0" err="1">
                <a:effectLst/>
                <a:latin typeface="Google Sans"/>
              </a:rPr>
              <a:t>Output</a:t>
            </a:r>
            <a:r>
              <a:rPr lang="en-IN" sz="2000" b="1" u="none" strike="noStrike" dirty="0">
                <a:effectLst/>
                <a:latin typeface="Google Sans"/>
              </a:rPr>
              <a:t> Layer</a:t>
            </a:r>
            <a:r>
              <a:rPr lang="en-IN" sz="2000" b="0" u="none" strike="noStrike" dirty="0">
                <a:effectLst/>
                <a:latin typeface="Google Sans"/>
              </a:rPr>
              <a:t>: Converts the image into a base64 data string to bypass browser blocks, drawing bright boxes around the deficiency spots and providing translated solution logs.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73496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1A5D26-19FE-9417-41E6-DC7372AE3962}"/>
              </a:ext>
            </a:extLst>
          </p:cNvPr>
          <p:cNvSpPr txBox="1"/>
          <p:nvPr/>
        </p:nvSpPr>
        <p:spPr>
          <a:xfrm>
            <a:off x="1061883" y="1734840"/>
            <a:ext cx="10314039" cy="367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700"/>
              </a:spcBef>
              <a:spcAft>
                <a:spcPts val="900"/>
              </a:spcAft>
              <a:buNone/>
            </a:pPr>
            <a:r>
              <a:rPr lang="en-IN" sz="2000" b="1" u="none" strike="noStrike" dirty="0">
                <a:effectLst/>
                <a:latin typeface="Google Sans"/>
              </a:rPr>
              <a:t>Project Deliverables Summary (The Checklist)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0" u="none" strike="noStrike" dirty="0">
                <a:effectLst/>
                <a:latin typeface="Google Sans"/>
              </a:rPr>
              <a:t>✅ </a:t>
            </a:r>
            <a:r>
              <a:rPr lang="en-IN" sz="2000" b="1" u="none" strike="noStrike" dirty="0">
                <a:effectLst/>
                <a:latin typeface="Google Sans"/>
              </a:rPr>
              <a:t>Optimized AI Model</a:t>
            </a:r>
            <a:r>
              <a:rPr lang="en-IN" sz="2000" b="0" u="none" strike="noStrike" dirty="0">
                <a:effectLst/>
                <a:latin typeface="Google Sans"/>
              </a:rPr>
              <a:t>: Fine-tuned 100-epoch </a:t>
            </a:r>
            <a:r>
              <a:rPr lang="en-IN" sz="2000" b="0" u="none" strike="noStrike" dirty="0">
                <a:effectLst/>
                <a:latin typeface="Courier New" panose="02070309020205020404" pitchFamily="49" charset="0"/>
              </a:rPr>
              <a:t>best.pt</a:t>
            </a:r>
            <a:r>
              <a:rPr lang="en-IN" sz="2000" b="0" u="none" strike="noStrike" dirty="0">
                <a:effectLst/>
                <a:latin typeface="Google Sans"/>
              </a:rPr>
              <a:t> weights file achieving a </a:t>
            </a:r>
            <a:r>
              <a:rPr lang="en-IN" sz="2000" b="1" u="none" strike="noStrike" dirty="0">
                <a:effectLst/>
                <a:latin typeface="Google Sans"/>
              </a:rPr>
              <a:t>97.5% mAP@0.5</a:t>
            </a:r>
            <a:r>
              <a:rPr lang="en-IN" sz="2000" b="0" u="none" strike="noStrike" dirty="0">
                <a:effectLst/>
                <a:latin typeface="Google Sans"/>
              </a:rPr>
              <a:t> score.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0" u="none" strike="noStrike" dirty="0">
                <a:effectLst/>
                <a:latin typeface="Google Sans"/>
              </a:rPr>
              <a:t>✅ </a:t>
            </a:r>
            <a:r>
              <a:rPr lang="en-IN" sz="2000" b="1" u="none" strike="noStrike" dirty="0">
                <a:effectLst/>
                <a:latin typeface="Google Sans"/>
              </a:rPr>
              <a:t>Interactive Dashboard</a:t>
            </a:r>
            <a:r>
              <a:rPr lang="en-IN" sz="2000" b="0" u="none" strike="noStrike" dirty="0">
                <a:effectLst/>
                <a:latin typeface="Google Sans"/>
              </a:rPr>
              <a:t>: Standalone </a:t>
            </a:r>
            <a:r>
              <a:rPr lang="en-IN" sz="2000" b="0" u="none" strike="noStrike" dirty="0">
                <a:effectLst/>
                <a:latin typeface="Courier New" panose="02070309020205020404" pitchFamily="49" charset="0"/>
              </a:rPr>
              <a:t>gradio_app.py</a:t>
            </a:r>
            <a:r>
              <a:rPr lang="en-IN" sz="2000" b="0" u="none" strike="noStrike" dirty="0">
                <a:effectLst/>
                <a:latin typeface="Google Sans"/>
              </a:rPr>
              <a:t> script containing your full translation engine logic.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0" u="none" strike="noStrike" dirty="0">
                <a:effectLst/>
                <a:latin typeface="Google Sans"/>
              </a:rPr>
              <a:t>✅ </a:t>
            </a:r>
            <a:r>
              <a:rPr lang="en-IN" sz="2000" b="1" u="none" strike="noStrike" dirty="0">
                <a:effectLst/>
                <a:latin typeface="Google Sans"/>
              </a:rPr>
              <a:t>Data Validation Proof</a:t>
            </a:r>
            <a:r>
              <a:rPr lang="en-IN" sz="2000" b="0" u="none" strike="noStrike" dirty="0">
                <a:effectLst/>
                <a:latin typeface="Google Sans"/>
              </a:rPr>
              <a:t>: Verified performance metrics charts and edge-case correction documentation.</a:t>
            </a:r>
          </a:p>
          <a:p>
            <a:pPr>
              <a:spcBef>
                <a:spcPts val="9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b="0" u="none" strike="noStrike" dirty="0">
                <a:effectLst/>
                <a:latin typeface="Google Sans"/>
              </a:rPr>
              <a:t>✅ </a:t>
            </a:r>
            <a:r>
              <a:rPr lang="en-IN" sz="2000" b="1" u="none" strike="noStrike" dirty="0">
                <a:effectLst/>
                <a:latin typeface="Google Sans"/>
              </a:rPr>
              <a:t>Field Accessibility</a:t>
            </a:r>
            <a:r>
              <a:rPr lang="en-IN" sz="2000" b="0" u="none" strike="noStrike" dirty="0">
                <a:effectLst/>
                <a:latin typeface="Google Sans"/>
              </a:rPr>
              <a:t>: Multi-language support (</a:t>
            </a:r>
            <a:r>
              <a:rPr lang="en-IN" sz="2000" b="1" u="none" strike="noStrike" dirty="0">
                <a:effectLst/>
                <a:latin typeface="Google Sans"/>
              </a:rPr>
              <a:t>English, Telugu, Hindi</a:t>
            </a:r>
            <a:r>
              <a:rPr lang="en-IN" sz="2000" b="0" u="none" strike="noStrike" dirty="0">
                <a:effectLst/>
                <a:latin typeface="Google Sans"/>
              </a:rPr>
              <a:t>) built specifically for local field technicians</a:t>
            </a:r>
            <a:r>
              <a:rPr lang="en-IN" b="0" u="none" strike="noStrike" dirty="0">
                <a:effectLst/>
                <a:latin typeface="Google San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D03F3-4CC6-E80E-BD9F-F2AF370BC0E3}"/>
              </a:ext>
            </a:extLst>
          </p:cNvPr>
          <p:cNvSpPr txBox="1"/>
          <p:nvPr/>
        </p:nvSpPr>
        <p:spPr>
          <a:xfrm>
            <a:off x="2782529" y="651076"/>
            <a:ext cx="78461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700"/>
              </a:spcBef>
              <a:spcAft>
                <a:spcPts val="900"/>
              </a:spcAft>
              <a:buNone/>
            </a:pPr>
            <a:r>
              <a:rPr lang="en-IN" sz="2800" b="1" u="none" strike="noStrike" dirty="0">
                <a:solidFill>
                  <a:srgbClr val="FF0000"/>
                </a:solidFill>
                <a:effectLst/>
                <a:latin typeface="Google Sans"/>
              </a:rPr>
              <a:t>Project Deliverables Summary (The Checklist)</a:t>
            </a:r>
          </a:p>
        </p:txBody>
      </p:sp>
    </p:spTree>
    <p:extLst>
      <p:ext uri="{BB962C8B-B14F-4D97-AF65-F5344CB8AC3E}">
        <p14:creationId xmlns:p14="http://schemas.microsoft.com/office/powerpoint/2010/main" val="1348512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67FB0B-0F9C-5F38-5BC2-6A5C4372033C}"/>
              </a:ext>
            </a:extLst>
          </p:cNvPr>
          <p:cNvSpPr txBox="1"/>
          <p:nvPr/>
        </p:nvSpPr>
        <p:spPr>
          <a:xfrm>
            <a:off x="3359951" y="2568366"/>
            <a:ext cx="60423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700"/>
              </a:spcBef>
              <a:spcAft>
                <a:spcPts val="900"/>
              </a:spcAft>
              <a:buNone/>
            </a:pPr>
            <a:r>
              <a:rPr lang="en-US" sz="9600" b="1" u="none" strike="noStrike" dirty="0">
                <a:solidFill>
                  <a:srgbClr val="FF0000"/>
                </a:solidFill>
                <a:effectLst/>
                <a:latin typeface="Google Sans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9398504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124</TotalTime>
  <Words>1222</Words>
  <Application>Microsoft Office PowerPoint</Application>
  <PresentationFormat>Widescreen</PresentationFormat>
  <Paragraphs>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Courier New</vt:lpstr>
      <vt:lpstr>Garamond</vt:lpstr>
      <vt:lpstr>Google Sans</vt:lpstr>
      <vt:lpstr>Organic</vt:lpstr>
      <vt:lpstr>PALM OIL LEAF NUTRIENT STRESS DETECTION USING YOLOv8 </vt:lpstr>
      <vt:lpstr>Title &amp; Introduction</vt:lpstr>
      <vt:lpstr>The Core Problem Statement  </vt:lpstr>
      <vt:lpstr>Proposed AI Solution Blueprint </vt:lpstr>
      <vt:lpstr>DATASET DESCRIPTION</vt:lpstr>
      <vt:lpstr>MODEL ARCHITECTURE &amp; TRAINING</vt:lpstr>
      <vt:lpstr>Model Evaluation Results Matrix </vt:lpstr>
      <vt:lpstr>Production-Ready Dashboard Features</vt:lpstr>
      <vt:lpstr>Real-Time Performance Showcase </vt:lpstr>
      <vt:lpstr>PowerPoint Presentation</vt:lpstr>
      <vt:lpstr>FUTURE SCOPE</vt:lpstr>
      <vt:lpstr>Project Conclusion &amp; Impact Summary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PALM OIL LEAF NUTRIENT STRESS DETECTION USING YOLOv8</dc:title>
  <dc:creator>S.KRISHNA GANESH</dc:creator>
  <cp:lastModifiedBy>MAHESH SINGH</cp:lastModifiedBy>
  <cp:revision>4</cp:revision>
  <dcterms:created xsi:type="dcterms:W3CDTF">2026-05-12T09:36:15Z</dcterms:created>
  <dcterms:modified xsi:type="dcterms:W3CDTF">2026-05-20T12:16:29Z</dcterms:modified>
</cp:coreProperties>
</file>